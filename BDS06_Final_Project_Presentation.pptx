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B243B"/>
                </a:solidFill>
              </a:rPr>
              <a:t>BDS-06: Campus Occupancy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4606E"/>
                </a:solidFill>
              </a:rPr>
              <a:t>T.Y. B.Sc. Data Science | Capstone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554480"/>
            <a:ext cx="12191695" cy="73152"/>
          </a:xfrm>
          <a:prstGeom prst="rect">
            <a:avLst/>
          </a:prstGeom>
          <a:solidFill>
            <a:srgbClr val="185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4754880" cy="2377440"/>
          </a:xfrm>
          <a:prstGeom prst="roundRect">
            <a:avLst/>
          </a:prstGeom>
          <a:solidFill>
            <a:srgbClr val="F5F7F9"/>
          </a:solidFill>
          <a:ln>
            <a:solidFill>
              <a:srgbClr val="18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>
                <a:solidFill>
                  <a:srgbClr val="0B243B"/>
                </a:solidFill>
              </a:rPr>
              <a:t>Project Code: BDS-06</a:t>
            </a:r>
            <a:br/>
            <a:r>
              <a:rPr sz="2200">
                <a:solidFill>
                  <a:srgbClr val="0B243B"/>
                </a:solidFill>
              </a:rPr>
              <a:t>Academic Level: T.Y. B.Sc. Data Science</a:t>
            </a:r>
            <a:br/>
            <a:r>
              <a:rPr sz="2200">
                <a:solidFill>
                  <a:srgbClr val="0B243B"/>
                </a:solidFill>
              </a:rPr>
              <a:t>Scope: Verified local startup MVP</a:t>
            </a:r>
            <a:br/>
            <a:r>
              <a:rPr sz="2200">
                <a:solidFill>
                  <a:srgbClr val="0B243B"/>
                </a:solidFill>
              </a:rPr>
              <a:t>Prototype: FastAPI + Streamlit + Docker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103120"/>
            <a:ext cx="4846320" cy="1097280"/>
          </a:xfrm>
          <a:prstGeom prst="roundRect">
            <a:avLst/>
          </a:prstGeom>
          <a:solidFill>
            <a:srgbClr val="D9EAF6"/>
          </a:solidFill>
          <a:ln>
            <a:solidFill>
              <a:srgbClr val="18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243B"/>
                </a:solidFill>
              </a:rPr>
              <a:t>Verified runtime</a:t>
            </a:r>
            <a:br/>
            <a:r>
              <a:rPr sz="1800" b="1">
                <a:solidFill>
                  <a:srgbClr val="0B243B"/>
                </a:solidFill>
              </a:rPr>
              <a:t>Docker + API + Dashboard active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3566160"/>
            <a:ext cx="4846320" cy="1097280"/>
          </a:xfrm>
          <a:prstGeom prst="roundRect">
            <a:avLst/>
          </a:prstGeom>
          <a:solidFill>
            <a:srgbClr val="F5F7F9"/>
          </a:solidFill>
          <a:ln>
            <a:solidFill>
              <a:srgbClr val="18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B243B"/>
                </a:solidFill>
              </a:rPr>
              <a:t>Verified scope</a:t>
            </a:r>
            <a:br/>
            <a:r>
              <a:rPr sz="1800" b="1">
                <a:solidFill>
                  <a:srgbClr val="0B243B"/>
                </a:solidFill>
              </a:rPr>
              <a:t>1-room, 1-hour, point forecast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4606E"/>
                </a:solidFill>
              </a:rPr>
              <a:t>Student Name: [Insert student name]</a:t>
            </a:r>
            <a:br/>
            <a:r>
              <a:rPr sz="1200">
                <a:solidFill>
                  <a:srgbClr val="54606E"/>
                </a:solidFill>
              </a:rPr>
              <a:t>Guide / Institution: [Insert guide name and institution]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4606E"/>
                </a:solidFill>
              </a:rPr>
              <a:t>BDS-06 | Verified local capstone prototype | 2026-10-02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B243B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4606E"/>
                </a:solidFill>
              </a:rPr>
              <a:t>Why campus space planning needs better visibility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577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0B243B"/>
                </a:solidFill>
              </a:rPr>
              <a:t>Nominal schedules and enrollment alone do not show actual room usage.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B243B"/>
                </a:solidFill>
              </a:rPr>
              <a:t>Facilities teams need better visibility into utilization, wasted capacity, and near-term demand.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B243B"/>
                </a:solidFill>
              </a:rPr>
              <a:t>This project addresses the problem on a synthetic campus dataset with a verified local prototype.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0B243B"/>
                </a:solidFill>
              </a:rPr>
              <a:t>The scope is decision support, not deployment to a live institutional environment.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1920240"/>
            <a:ext cx="4389120" cy="2926080"/>
          </a:xfrm>
          <a:prstGeom prst="roundRect">
            <a:avLst/>
          </a:prstGeom>
          <a:solidFill>
            <a:srgbClr val="D9EAF6"/>
          </a:solidFill>
          <a:ln>
            <a:solidFill>
              <a:srgbClr val="18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243B"/>
                </a:solidFill>
              </a:rPr>
              <a:t>Key issue</a:t>
            </a:r>
            <a:br/>
            <a:r>
              <a:rPr sz="2000" b="1">
                <a:solidFill>
                  <a:srgbClr val="0B243B"/>
                </a:solidFill>
              </a:rPr>
              <a:t>Room occupancy is not the same as timetable availability.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4606E"/>
                </a:solidFill>
              </a:rPr>
              <a:t>BDS-06 | Verified local capstone prototype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B243B"/>
                </a:solidFill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4606E"/>
                </a:solidFill>
              </a:rPr>
              <a:t>What the project set out to demonstrate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0B243B"/>
                </a:solidFill>
              </a:rPr>
              <a:t>Build a reproducible campus occupancy analytics workflow.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B243B"/>
                </a:solidFill>
              </a:rPr>
              <a:t>Forecast one-room occupancy for a one-hour horizon using a causal feature pipeline.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B243B"/>
                </a:solidFill>
              </a:rPr>
              <a:t>Measure utilization using verified metrics: SUR, RFU, and WSH.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B243B"/>
                </a:solidFill>
              </a:rPr>
              <a:t>Explore room grouping behavior through analytical clustering.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B243B"/>
                </a:solidFill>
              </a:rPr>
              <a:t>Compare heuristic and optimization-based allocation on synthetic data.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B243B"/>
                </a:solidFill>
              </a:rPr>
              <a:t>Deliver a secure, local dashboard and API for read-only operational 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828800"/>
            <a:ext cx="3840480" cy="2194560"/>
          </a:xfrm>
          <a:prstGeom prst="roundRect">
            <a:avLst/>
          </a:prstGeom>
          <a:solidFill>
            <a:srgbClr val="F5F7F9"/>
          </a:solidFill>
          <a:ln>
            <a:solidFill>
              <a:srgbClr val="18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0B243B"/>
                </a:solidFill>
              </a:rPr>
              <a:t>Verified scope</a:t>
            </a:r>
            <a:br/>
            <a:r>
              <a:rPr sz="2400" b="1">
                <a:solidFill>
                  <a:srgbClr val="0B243B"/>
                </a:solidFill>
              </a:rPr>
              <a:t>Read-only local 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4606E"/>
                </a:solidFill>
              </a:rPr>
              <a:t>BDS-06 | Verified local capstone prototype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B243B"/>
                </a:solidFill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4606E"/>
                </a:solidFill>
              </a:rPr>
              <a:t>Modular analytics and decision support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920240" cy="1097280"/>
          </a:xfrm>
          <a:prstGeom prst="roundRect">
            <a:avLst/>
          </a:prstGeom>
          <a:solidFill>
            <a:srgbClr val="F5F7F9"/>
          </a:solidFill>
          <a:ln>
            <a:solidFill>
              <a:srgbClr val="18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0B243B"/>
                </a:solidFill>
              </a:rPr>
              <a:t>1. Data intake</a:t>
            </a:r>
            <a:br/>
            <a:r>
              <a:rPr sz="1200">
                <a:solidFill>
                  <a:srgbClr val="0B243B"/>
                </a:solidFill>
              </a:rPr>
              <a:t>Synthetic room, timetable, event, and occupancy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06040" y="1737360"/>
            <a:ext cx="2011680" cy="1097280"/>
          </a:xfrm>
          <a:prstGeom prst="roundRect">
            <a:avLst/>
          </a:prstGeom>
          <a:solidFill>
            <a:srgbClr val="F5F7F9"/>
          </a:solidFill>
          <a:ln>
            <a:solidFill>
              <a:srgbClr val="18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0B243B"/>
                </a:solidFill>
              </a:rPr>
              <a:t>2. Cleaning &amp; validation</a:t>
            </a:r>
            <a:br/>
            <a:r>
              <a:rPr sz="1200">
                <a:solidFill>
                  <a:srgbClr val="0B243B"/>
                </a:solidFill>
              </a:rPr>
              <a:t>Schema checks, timestamps, and data integrity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1737360"/>
            <a:ext cx="1920240" cy="1097280"/>
          </a:xfrm>
          <a:prstGeom prst="roundRect">
            <a:avLst/>
          </a:prstGeom>
          <a:solidFill>
            <a:srgbClr val="F5F7F9"/>
          </a:solidFill>
          <a:ln>
            <a:solidFill>
              <a:srgbClr val="18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0B243B"/>
                </a:solidFill>
              </a:rPr>
              <a:t>3. Feature engineering</a:t>
            </a:r>
            <a:br/>
            <a:r>
              <a:rPr sz="1200">
                <a:solidFill>
                  <a:srgbClr val="0B243B"/>
                </a:solidFill>
              </a:rPr>
              <a:t>Calendar, lags, room context, rolling behavior, causal features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95160" y="1737360"/>
            <a:ext cx="1920240" cy="1097280"/>
          </a:xfrm>
          <a:prstGeom prst="roundRect">
            <a:avLst/>
          </a:prstGeom>
          <a:solidFill>
            <a:srgbClr val="F5F7F9"/>
          </a:solidFill>
          <a:ln>
            <a:solidFill>
              <a:srgbClr val="18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0B243B"/>
                </a:solidFill>
              </a:rPr>
              <a:t>4. Forecasting</a:t>
            </a:r>
            <a:br/>
            <a:r>
              <a:rPr sz="1200">
                <a:solidFill>
                  <a:srgbClr val="0B243B"/>
                </a:solidFill>
              </a:rPr>
              <a:t>XGBoost one-hour point forecast with chronological holdout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291840"/>
            <a:ext cx="2286000" cy="1097280"/>
          </a:xfrm>
          <a:prstGeom prst="roundRect">
            <a:avLst/>
          </a:prstGeom>
          <a:solidFill>
            <a:srgbClr val="F5F7F9"/>
          </a:solidFill>
          <a:ln>
            <a:solidFill>
              <a:srgbClr val="18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0B243B"/>
                </a:solidFill>
              </a:rPr>
              <a:t>5. Analytics</a:t>
            </a:r>
            <a:br/>
            <a:r>
              <a:rPr sz="1200">
                <a:solidFill>
                  <a:srgbClr val="0B243B"/>
                </a:solidFill>
              </a:rPr>
              <a:t>SUR, RFU, WSH, clustering, scenario comparisons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3291840"/>
            <a:ext cx="2468880" cy="1097280"/>
          </a:xfrm>
          <a:prstGeom prst="roundRect">
            <a:avLst/>
          </a:prstGeom>
          <a:solidFill>
            <a:srgbClr val="F5F7F9"/>
          </a:solidFill>
          <a:ln>
            <a:solidFill>
              <a:srgbClr val="18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0B243B"/>
                </a:solidFill>
              </a:rPr>
              <a:t>6. API</a:t>
            </a:r>
            <a:br/>
            <a:r>
              <a:rPr sz="1200">
                <a:solidFill>
                  <a:srgbClr val="0B243B"/>
                </a:solidFill>
              </a:rPr>
              <a:t>FastAPI health, metrics, forecast, security, and robust errors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291840"/>
            <a:ext cx="2743200" cy="1097280"/>
          </a:xfrm>
          <a:prstGeom prst="roundRect">
            <a:avLst/>
          </a:prstGeom>
          <a:solidFill>
            <a:srgbClr val="F5F7F9"/>
          </a:solidFill>
          <a:ln>
            <a:solidFill>
              <a:srgbClr val="18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0B243B"/>
                </a:solidFill>
              </a:rPr>
              <a:t>7. Dashboard</a:t>
            </a:r>
            <a:br/>
            <a:r>
              <a:rPr sz="1200">
                <a:solidFill>
                  <a:srgbClr val="0B243B"/>
                </a:solidFill>
              </a:rPr>
              <a:t>Overview + Forecast Explorer for local operational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4754880"/>
            <a:ext cx="4389120" cy="914400"/>
          </a:xfrm>
          <a:prstGeom prst="roundRect">
            <a:avLst/>
          </a:prstGeom>
          <a:solidFill>
            <a:srgbClr val="F5F7F9"/>
          </a:solidFill>
          <a:ln>
            <a:solidFill>
              <a:srgbClr val="18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0B243B"/>
                </a:solidFill>
              </a:rPr>
              <a:t>8. Decision support</a:t>
            </a:r>
            <a:br/>
            <a:r>
              <a:rPr sz="1200">
                <a:solidFill>
                  <a:srgbClr val="0B243B"/>
                </a:solidFill>
              </a:rPr>
              <a:t>Analytical recommendations, bounded by synthetic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4606E"/>
                </a:solidFill>
              </a:rPr>
              <a:t>BDS-06 | Verified local capstone prototype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B243B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4606E"/>
                </a:solidFill>
              </a:rPr>
              <a:t>Verified project architecture</a:t>
            </a:r>
          </a:p>
        </p:txBody>
      </p:sp>
      <p:pic>
        <p:nvPicPr>
          <p:cNvPr id="5" name="Picture 4" descr="10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0"/>
            <a:ext cx="11430000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00799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4606E"/>
                </a:solidFill>
              </a:rPr>
              <a:t>Figure: Verified local architecture showing the FastAPI backend, Streamlit dashboard, and data/model dependencies.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4606E"/>
                </a:solidFill>
              </a:rPr>
              <a:t>BDS-06 | Verified local capstone prototype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B243B"/>
                </a:solidFill>
              </a:rPr>
              <a:t>Data Flow and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4606E"/>
                </a:solidFill>
              </a:rPr>
              <a:t>Synthetic data to forecast and dashboard</a:t>
            </a:r>
          </a:p>
        </p:txBody>
      </p:sp>
      <p:pic>
        <p:nvPicPr>
          <p:cNvPr id="5" name="Picture 4" descr="11_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45920"/>
            <a:ext cx="1133856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309359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4606E"/>
                </a:solidFill>
              </a:rPr>
              <a:t>Figure: Data generation, validation, model inference, and dashboard delivery pipeline.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4606E"/>
                </a:solidFill>
              </a:rPr>
              <a:t>BDS-06 | Verified local capstone prototype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B243B"/>
                </a:solidFill>
              </a:rPr>
              <a:t>Forecasting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4606E"/>
                </a:solidFill>
              </a:rPr>
              <a:t>Supported local forecasting boundary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0B243B"/>
                </a:solidFill>
              </a:rPr>
              <a:t>Model: XGBoost regressor trained on synthetic room and scheduling data.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B243B"/>
                </a:solidFill>
              </a:rPr>
              <a:t>Scope: verified one-room, one-hour forecast only.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B243B"/>
                </a:solidFill>
              </a:rPr>
              <a:t>Semantics: point estimate; no calibrated uncertainty intervals are claimed.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B243B"/>
                </a:solidFill>
              </a:rPr>
              <a:t>Leakage control: chronological train/validation/test split and causal feature logic.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B243B"/>
                </a:solidFill>
              </a:rPr>
              <a:t>Example: room B01-R101, forecast horizon 1 hour, output around 0.6201575398445129.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B243B"/>
                </a:solidFill>
              </a:rPr>
              <a:t>This is a short-term operational estimate, not a broad multi-horizon 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920240"/>
            <a:ext cx="3657600" cy="2468880"/>
          </a:xfrm>
          <a:prstGeom prst="roundRect">
            <a:avLst/>
          </a:prstGeom>
          <a:solidFill>
            <a:srgbClr val="D9EAF6"/>
          </a:solidFill>
          <a:ln>
            <a:solidFill>
              <a:srgbClr val="18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243B"/>
                </a:solidFill>
              </a:rPr>
              <a:t>Verified forecast</a:t>
            </a:r>
            <a:br/>
            <a:r>
              <a:rPr sz="2000" b="1">
                <a:solidFill>
                  <a:srgbClr val="0B243B"/>
                </a:solidFill>
              </a:rPr>
              <a:t>Room B01-R101</a:t>
            </a:r>
            <a:br/>
            <a:r>
              <a:rPr sz="2000" b="1">
                <a:solidFill>
                  <a:srgbClr val="0B243B"/>
                </a:solidFill>
              </a:rPr>
              <a:t>1-hour horizon</a:t>
            </a:r>
            <a:br/>
            <a:r>
              <a:rPr sz="2000" b="1">
                <a:solidFill>
                  <a:srgbClr val="0B243B"/>
                </a:solidFill>
              </a:rPr>
              <a:t>Point estimate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4606E"/>
                </a:solidFill>
              </a:rPr>
              <a:t>BDS-06 | Verified local capstone prototype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B243B"/>
                </a:solidFill>
              </a:rPr>
              <a:t>Analytics and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4606E"/>
                </a:solidFill>
              </a:rPr>
              <a:t>Local analytical capabilities and bounded comparisons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0B243B"/>
                </a:solidFill>
              </a:rPr>
              <a:t>Analytics: SUR, RFU, and WSH are implemented and verified through the API for campus/building/room views.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B243B"/>
                </a:solidFill>
              </a:rPr>
              <a:t>Clustering: seeded room behavior clustering is implemented as an analytical capability, not a live dashboard page.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B243B"/>
                </a:solidFill>
              </a:rPr>
              <a:t>Optimization: greedy baseline compared with CBC MILP on synthetic assignment data.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B243B"/>
                </a:solidFill>
              </a:rPr>
              <a:t>Evidence: feasible solutions were produced; the same objective value was observed in one local trial.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B243B"/>
                </a:solidFill>
              </a:rPr>
              <a:t>These are analytical decision-support functions, not unsupported public operational guarantees.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103120"/>
            <a:ext cx="3291840" cy="2011680"/>
          </a:xfrm>
          <a:prstGeom prst="roundRect">
            <a:avLst/>
          </a:prstGeom>
          <a:solidFill>
            <a:srgbClr val="F5F7F9"/>
          </a:solidFill>
          <a:ln>
            <a:solidFill>
              <a:srgbClr val="18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243B"/>
                </a:solidFill>
              </a:rPr>
              <a:t>Important</a:t>
            </a:r>
            <a:br/>
            <a:r>
              <a:rPr sz="2000" b="1">
                <a:solidFill>
                  <a:srgbClr val="0B243B"/>
                </a:solidFill>
              </a:rPr>
              <a:t>Not a separate live dashboard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4606E"/>
                </a:solidFill>
              </a:rPr>
              <a:t>BDS-06 | Verified local capstone prototype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B243B"/>
                </a:solidFill>
              </a:rP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4606E"/>
                </a:solidFill>
              </a:rPr>
              <a:t>Overview and Forecast Explorer as the user-facing MVP</a:t>
            </a:r>
          </a:p>
        </p:txBody>
      </p:sp>
      <p:pic>
        <p:nvPicPr>
          <p:cNvPr id="5" name="Picture 4" descr="01_overview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3657600" cy="2194560"/>
          </a:xfrm>
          <a:prstGeom prst="rect">
            <a:avLst/>
          </a:prstGeom>
        </p:spPr>
      </p:pic>
      <p:pic>
        <p:nvPicPr>
          <p:cNvPr id="6" name="Picture 5" descr="01_overview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645920"/>
            <a:ext cx="3383280" cy="2194560"/>
          </a:xfrm>
          <a:prstGeom prst="rect">
            <a:avLst/>
          </a:prstGeom>
        </p:spPr>
      </p:pic>
      <p:pic>
        <p:nvPicPr>
          <p:cNvPr id="7" name="Picture 6" descr="03_forecast_explor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645920"/>
            <a:ext cx="3566160" cy="2194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114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4606E"/>
                </a:solidFill>
              </a:rPr>
              <a:t>Verified dashboard evidence: Overview page, KPI summary, and Forecast Explorer request flow.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4606E"/>
                </a:solidFill>
              </a:rPr>
              <a:t>BDS-06 | Verified local capstone prototype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B243B"/>
                </a:solidFill>
              </a:rPr>
              <a:t>Live Forecast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4606E"/>
                </a:solidFill>
              </a:rPr>
              <a:t>Verified local forecast output</a:t>
            </a:r>
          </a:p>
        </p:txBody>
      </p:sp>
      <p:pic>
        <p:nvPicPr>
          <p:cNvPr id="5" name="Picture 4" descr="04_valid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394960" cy="3200400"/>
          </a:xfrm>
          <a:prstGeom prst="rect">
            <a:avLst/>
          </a:prstGeom>
        </p:spPr>
      </p:pic>
      <p:pic>
        <p:nvPicPr>
          <p:cNvPr id="6" name="Picture 5" descr="04_valid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30352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120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4606E"/>
                </a:solidFill>
              </a:rPr>
              <a:t>Room B01-R101 | Horizon: 1 hour | Prediction: point estimate only | Verified local runtime evidence.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4606E"/>
                </a:solidFill>
              </a:rPr>
              <a:t>BDS-06 | Verified local capstone prototype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B243B"/>
                </a:solidFill>
              </a:rPr>
              <a:t>Security and 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4606E"/>
                </a:solidFill>
              </a:rPr>
              <a:t>Verified boundaries for the local MVP</a:t>
            </a:r>
          </a:p>
        </p:txBody>
      </p:sp>
      <p:pic>
        <p:nvPicPr>
          <p:cNvPr id="5" name="Picture 4" descr="07_api_h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645920"/>
            <a:ext cx="530352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64592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>
                <a:solidFill>
                  <a:srgbClr val="0B243B"/>
                </a:solidFill>
              </a:rPr>
              <a:t>API key enforcement is active for protected routes.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0B243B"/>
                </a:solidFill>
              </a:rPr>
              <a:t>Missing/invalid credentials return safe 401 responses.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0B243B"/>
                </a:solidFill>
              </a:rPr>
              <a:t>A read-only key was denied optimizer access with a 403 response.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0B243B"/>
                </a:solidFill>
              </a:rPr>
              <a:t>Unknown room and invalid input are handled without exposing tracebacks.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0B243B"/>
                </a:solidFill>
              </a:rPr>
              <a:t>Health and readiness checks confirm the service is operational.</a:t>
            </a:r>
          </a:p>
          <a:p>
            <a:pPr algn="l">
              <a:spcAft>
                <a:spcPts val="800"/>
              </a:spcAft>
            </a:pPr>
            <a:r>
              <a:rPr sz="1700">
                <a:solidFill>
                  <a:srgbClr val="0B243B"/>
                </a:solidFill>
              </a:rPr>
              <a:t>This is a controlled local prototype boundary, not a public production identity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4606E"/>
                </a:solidFill>
              </a:rPr>
              <a:t>BDS-06 | Verified local capstone prototype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B243B"/>
                </a:solidFill>
              </a:rPr>
              <a:t>Testing and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4606E"/>
                </a:solidFill>
              </a:rPr>
              <a:t>Verified runtime and validation evidence</a:t>
            </a:r>
          </a:p>
        </p:txBody>
      </p:sp>
      <p:pic>
        <p:nvPicPr>
          <p:cNvPr id="5" name="Picture 4" descr="08_docker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394960" cy="3474720"/>
          </a:xfrm>
          <a:prstGeom prst="rect">
            <a:avLst/>
          </a:prstGeom>
        </p:spPr>
      </p:pic>
      <p:pic>
        <p:nvPicPr>
          <p:cNvPr id="6" name="Picture 5" descr="09_test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45920"/>
            <a:ext cx="530352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303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54606E"/>
                </a:solidFill>
              </a:rPr>
              <a:t>Evidence: Docker local runtime running, and automated validation reported 178 passed with 1 warning in 53.36 seconds.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4606E"/>
                </a:solidFill>
              </a:rPr>
              <a:t>BDS-06 | Verified local capstone prototype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B243B"/>
                </a:solidFill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4606E"/>
                </a:solidFill>
              </a:rPr>
              <a:t>What the verified project actually demonstrates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0B243B"/>
                </a:solidFill>
              </a:rPr>
              <a:t>Verified runtime: Docker Compose stack, API health, dashboard readiness, and dashboard-to-API communication all succeeded locally.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B243B"/>
                </a:solidFill>
              </a:rPr>
              <a:t>Forecast capability: one-room, one-hour, point-estimate forecast works in the checked-in runtime.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B243B"/>
                </a:solidFill>
              </a:rPr>
              <a:t>Dashboard functionality: Overview and Forecast Explorer operate with real API-backed data and safe error states.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B243B"/>
                </a:solidFill>
              </a:rPr>
              <a:t>Security boundaries: access control and dependency checks are implemented and tested.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B243B"/>
                </a:solidFill>
              </a:rPr>
              <a:t>Leakage controls: the project includes chronological validation and causal feature checks.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B243B"/>
                </a:solidFill>
              </a:rPr>
              <a:t>Known limitation: the result is a synthetic, local prototype rather than a production campus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566160" cy="2286000"/>
          </a:xfrm>
          <a:prstGeom prst="roundRect">
            <a:avLst/>
          </a:prstGeom>
          <a:solidFill>
            <a:srgbClr val="D9EAF6"/>
          </a:solidFill>
          <a:ln>
            <a:solidFill>
              <a:srgbClr val="18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300" b="1">
                <a:solidFill>
                  <a:srgbClr val="0B243B"/>
                </a:solidFill>
              </a:rPr>
              <a:t>Verified result</a:t>
            </a:r>
            <a:br/>
            <a:r>
              <a:rPr sz="2300" b="1">
                <a:solidFill>
                  <a:srgbClr val="0B243B"/>
                </a:solidFill>
              </a:rPr>
              <a:t>Local prototype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4606E"/>
                </a:solidFill>
              </a:rPr>
              <a:t>BDS-06 | Verified local capstone prototype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B243B"/>
                </a:solidFill>
              </a:rPr>
              <a:t>Limitations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4606E"/>
                </a:solidFill>
              </a:rPr>
              <a:t>What is not yet evidenced and what could follow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0B243B"/>
                </a:solidFill>
              </a:rPr>
              <a:t>Synthetic data only; no real campus sensor or schedule integration is proven in this repository.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B243B"/>
                </a:solidFill>
              </a:rPr>
              <a:t>Forecast scope is intentionally limited to one-hour point estimates; multi-horizon and interval forecasts are deferred.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B243B"/>
                </a:solidFill>
              </a:rPr>
              <a:t>The optimizer and clustering are analytical capabilities, not separate dashboard pages or validated production workflows.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B243B"/>
                </a:solidFill>
              </a:rPr>
              <a:t>No public cloud deployment or institutional approval is claimed.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B243B"/>
                </a:solidFill>
              </a:rPr>
              <a:t>Future work would require real-data validation, broader forecasting, stronger calibration, and full operational security 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2011680"/>
            <a:ext cx="3566160" cy="1645920"/>
          </a:xfrm>
          <a:prstGeom prst="roundRect">
            <a:avLst/>
          </a:prstGeom>
          <a:solidFill>
            <a:srgbClr val="F5F7F9"/>
          </a:solidFill>
          <a:ln>
            <a:solidFill>
              <a:srgbClr val="18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B243B"/>
                </a:solidFill>
              </a:rPr>
              <a:t>Limitation</a:t>
            </a:r>
            <a:br/>
            <a:r>
              <a:rPr sz="2200" b="1">
                <a:solidFill>
                  <a:srgbClr val="0B243B"/>
                </a:solidFill>
              </a:rPr>
              <a:t>Evidence remains bounded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4606E"/>
                </a:solidFill>
              </a:rPr>
              <a:t>BDS-06 | Verified local capstone prototype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B243B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54606E"/>
                </a:solidFill>
              </a:rPr>
              <a:t>Academic and engineering value of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766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0B243B"/>
                </a:solidFill>
              </a:rPr>
              <a:t>The project demonstrates a credible local campus occupancy analytics workflow and a working decision-support prototype.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B243B"/>
                </a:solidFill>
              </a:rPr>
              <a:t>From a software engineering perspective, it shows a clean modular architecture, operational API health checks, secure boundaries, and reproducible local startup.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B243B"/>
                </a:solidFill>
              </a:rPr>
              <a:t>From the data science perspective, it demonstrates causal forecasting logic, leakage-aware validation, and meaningful utilization analytics.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B243B"/>
                </a:solidFill>
              </a:rPr>
              <a:t>The core value is evidence-based local planning support within a clearly bounded prototype scope.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B243B"/>
                </a:solidFill>
              </a:rPr>
              <a:t>Thank You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0B243B"/>
                </a:solidFill>
              </a:rPr>
              <a:t>Questions &amp; Discussion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828800"/>
            <a:ext cx="3200400" cy="1920240"/>
          </a:xfrm>
          <a:prstGeom prst="roundRect">
            <a:avLst/>
          </a:prstGeom>
          <a:solidFill>
            <a:srgbClr val="D9EAF6"/>
          </a:solidFill>
          <a:ln>
            <a:solidFill>
              <a:srgbClr val="18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243B"/>
                </a:solidFill>
              </a:rPr>
              <a:t>Final message</a:t>
            </a:r>
            <a:br/>
            <a:r>
              <a:rPr sz="2000" b="1">
                <a:solidFill>
                  <a:srgbClr val="0B243B"/>
                </a:solidFill>
              </a:rPr>
              <a:t>Verified local evidence</a:t>
            </a:r>
            <a:br/>
            <a:r>
              <a:rPr sz="2000" b="1">
                <a:solidFill>
                  <a:srgbClr val="0B243B"/>
                </a:solidFill>
              </a:rPr>
              <a:t>Academic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54606E"/>
                </a:solidFill>
              </a:rPr>
              <a:t>BDS-06 | Thank You |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